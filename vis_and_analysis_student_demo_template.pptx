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handoutMasterIdLst>
    <p:handoutMasterId r:id="rId11"/>
  </p:handoutMasterIdLst>
  <p:sldIdLst>
    <p:sldId id="289" r:id="rId5"/>
    <p:sldId id="340" r:id="rId6"/>
    <p:sldId id="329" r:id="rId7"/>
    <p:sldId id="336" r:id="rId8"/>
    <p:sldId id="34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B1EB13-4B4A-3A65-7705-B39B10420BC6}" v="11" dt="2025-11-07T13:21:13.889"/>
    <p1510:client id="{94404E7A-4EB2-D0DE-A758-3B2FEF7E6025}" v="1178" dt="2025-11-07T14:31:40.7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408" y="54"/>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26/11/2025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26/11/2025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393942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a:xfrm>
            <a:off x="965289" y="1420484"/>
            <a:ext cx="9696090" cy="868392"/>
          </a:xfrm>
        </p:spPr>
        <p:txBody>
          <a:bodyPr>
            <a:normAutofit fontScale="90000"/>
          </a:bodyPr>
          <a:lstStyle/>
          <a:p>
            <a:r>
              <a:rPr lang="en-US" sz="4000" dirty="0"/>
              <a:t>Research Question –</a:t>
            </a:r>
            <a:br>
              <a:rPr lang="en-US" sz="4000" dirty="0"/>
            </a:br>
            <a:r>
              <a:rPr lang="en-US" sz="2700" dirty="0"/>
              <a:t>Is there a difference in the mean rating between product categories on Amazon?</a:t>
            </a:r>
            <a:br>
              <a:rPr lang="en-US" dirty="0"/>
            </a:br>
            <a:r>
              <a:rPr lang="en-US" sz="4000" dirty="0"/>
              <a:t>Tutorial Presentation for Feedback</a:t>
            </a:r>
            <a:br>
              <a:rPr lang="en-US" sz="4000" dirty="0"/>
            </a:br>
            <a:r>
              <a:rPr lang="en-US" sz="2200" dirty="0"/>
              <a:t>Date:  26/11/2025</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a:xfrm>
            <a:off x="965289" y="1516188"/>
            <a:ext cx="10950453" cy="360000"/>
          </a:xfrm>
        </p:spPr>
        <p:txBody>
          <a:bodyPr/>
          <a:lstStyle/>
          <a:p>
            <a:r>
              <a:rPr lang="en-US" sz="2000" dirty="0"/>
              <a:t>Group Name: A 99                                                      Name of Student Presenting: Chavda Dhwani Hiren</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1"/>
            <a:ext cx="10455567" cy="1508472"/>
          </a:xfrm>
        </p:spPr>
        <p:txBody>
          <a:bodyPr/>
          <a:lstStyle/>
          <a:p>
            <a:r>
              <a:rPr lang="en-GB" dirty="0"/>
              <a:t>7COM1079-2025  Student Group No: A 99                   Names of Student Attendees  (Chavda Dhwani </a:t>
            </a:r>
            <a:r>
              <a:rPr lang="en-GB" dirty="0" err="1"/>
              <a:t>Hiren,Malav</a:t>
            </a:r>
            <a:r>
              <a:rPr lang="en-GB" dirty="0"/>
              <a:t> Nilesh </a:t>
            </a:r>
            <a:r>
              <a:rPr lang="en-GB" dirty="0" err="1"/>
              <a:t>shah,Maruti</a:t>
            </a:r>
            <a:r>
              <a:rPr lang="en-GB" dirty="0"/>
              <a:t> </a:t>
            </a:r>
            <a:r>
              <a:rPr lang="en-GB" dirty="0" err="1"/>
              <a:t>Abhaykumar</a:t>
            </a:r>
            <a:r>
              <a:rPr lang="en-GB" dirty="0"/>
              <a:t> </a:t>
            </a:r>
            <a:r>
              <a:rPr lang="en-GB" dirty="0" err="1"/>
              <a:t>jani</a:t>
            </a:r>
            <a:r>
              <a:rPr lang="en-GB" dirty="0"/>
              <a:t>, ): </a:t>
            </a:r>
          </a:p>
          <a:p>
            <a:endParaRPr lang="en-GB" dirty="0"/>
          </a:p>
          <a:p>
            <a:endParaRPr lang="en-GB" dirty="0"/>
          </a:p>
          <a:p>
            <a:r>
              <a:rPr lang="en-GB" dirty="0"/>
              <a:t>DATA SET NO : ds057</a:t>
            </a: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372942" y="629259"/>
            <a:ext cx="9753625" cy="230832"/>
          </a:xfrm>
        </p:spPr>
        <p:txBody>
          <a:bodyPr vert="horz" lIns="0" tIns="0" rIns="0" bIns="0" rtlCol="0" anchor="t">
            <a:noAutofit/>
          </a:bodyPr>
          <a:lstStyle/>
          <a:p>
            <a:pPr>
              <a:spcAft>
                <a:spcPts val="0"/>
              </a:spcAft>
            </a:pPr>
            <a:r>
              <a:rPr lang="en-GB" sz="2800" dirty="0">
                <a:solidFill>
                  <a:srgbClr val="203232"/>
                </a:solidFill>
                <a:cs typeface="Arial"/>
              </a:rPr>
              <a:t>Here is a sample of our dataset :</a:t>
            </a:r>
            <a:endParaRPr lang="en-GB" sz="2800" dirty="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a:xfrm>
            <a:off x="372942" y="340226"/>
            <a:ext cx="7176911" cy="230832"/>
          </a:xfrm>
        </p:spPr>
        <p:txBody>
          <a:bodyPr/>
          <a:lstStyle/>
          <a:p>
            <a:r>
              <a:rPr lang="en-GB" dirty="0"/>
              <a:t>PRE 7COM1079-2025  Student Group No:  A 99</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graphicFrame>
        <p:nvGraphicFramePr>
          <p:cNvPr id="12" name="Table 11">
            <a:extLst>
              <a:ext uri="{FF2B5EF4-FFF2-40B4-BE49-F238E27FC236}">
                <a16:creationId xmlns:a16="http://schemas.microsoft.com/office/drawing/2014/main" id="{54F368B5-85DF-A3CE-4136-4D244CD0D697}"/>
              </a:ext>
            </a:extLst>
          </p:cNvPr>
          <p:cNvGraphicFramePr>
            <a:graphicFrameLocks noGrp="1"/>
          </p:cNvGraphicFramePr>
          <p:nvPr>
            <p:extLst>
              <p:ext uri="{D42A27DB-BD31-4B8C-83A1-F6EECF244321}">
                <p14:modId xmlns:p14="http://schemas.microsoft.com/office/powerpoint/2010/main" val="63939967"/>
              </p:ext>
            </p:extLst>
          </p:nvPr>
        </p:nvGraphicFramePr>
        <p:xfrm>
          <a:off x="184030" y="1049136"/>
          <a:ext cx="11904452" cy="3205315"/>
        </p:xfrm>
        <a:graphic>
          <a:graphicData uri="http://schemas.openxmlformats.org/drawingml/2006/table">
            <a:tbl>
              <a:tblPr firstRow="1" bandRow="1">
                <a:tableStyleId>{5C22544A-7EE6-4342-B048-85BDC9FD1C3A}</a:tableStyleId>
              </a:tblPr>
              <a:tblGrid>
                <a:gridCol w="1700636">
                  <a:extLst>
                    <a:ext uri="{9D8B030D-6E8A-4147-A177-3AD203B41FA5}">
                      <a16:colId xmlns:a16="http://schemas.microsoft.com/office/drawing/2014/main" val="1541982989"/>
                    </a:ext>
                  </a:extLst>
                </a:gridCol>
                <a:gridCol w="1700636">
                  <a:extLst>
                    <a:ext uri="{9D8B030D-6E8A-4147-A177-3AD203B41FA5}">
                      <a16:colId xmlns:a16="http://schemas.microsoft.com/office/drawing/2014/main" val="3938217255"/>
                    </a:ext>
                  </a:extLst>
                </a:gridCol>
                <a:gridCol w="1700636">
                  <a:extLst>
                    <a:ext uri="{9D8B030D-6E8A-4147-A177-3AD203B41FA5}">
                      <a16:colId xmlns:a16="http://schemas.microsoft.com/office/drawing/2014/main" val="1833909140"/>
                    </a:ext>
                  </a:extLst>
                </a:gridCol>
                <a:gridCol w="1700636">
                  <a:extLst>
                    <a:ext uri="{9D8B030D-6E8A-4147-A177-3AD203B41FA5}">
                      <a16:colId xmlns:a16="http://schemas.microsoft.com/office/drawing/2014/main" val="2736192744"/>
                    </a:ext>
                  </a:extLst>
                </a:gridCol>
                <a:gridCol w="1700636">
                  <a:extLst>
                    <a:ext uri="{9D8B030D-6E8A-4147-A177-3AD203B41FA5}">
                      <a16:colId xmlns:a16="http://schemas.microsoft.com/office/drawing/2014/main" val="887725383"/>
                    </a:ext>
                  </a:extLst>
                </a:gridCol>
                <a:gridCol w="1700636">
                  <a:extLst>
                    <a:ext uri="{9D8B030D-6E8A-4147-A177-3AD203B41FA5}">
                      <a16:colId xmlns:a16="http://schemas.microsoft.com/office/drawing/2014/main" val="2149278138"/>
                    </a:ext>
                  </a:extLst>
                </a:gridCol>
                <a:gridCol w="1700636">
                  <a:extLst>
                    <a:ext uri="{9D8B030D-6E8A-4147-A177-3AD203B41FA5}">
                      <a16:colId xmlns:a16="http://schemas.microsoft.com/office/drawing/2014/main" val="4207574807"/>
                    </a:ext>
                  </a:extLst>
                </a:gridCol>
              </a:tblGrid>
              <a:tr h="513047">
                <a:tc>
                  <a:txBody>
                    <a:bodyPr/>
                    <a:lstStyle/>
                    <a:p>
                      <a:pPr>
                        <a:buNone/>
                      </a:pPr>
                      <a:r>
                        <a:rPr lang="en-GB" dirty="0" err="1"/>
                        <a:t>product_id</a:t>
                      </a:r>
                      <a:endParaRPr lang="en-GB" dirty="0"/>
                    </a:p>
                  </a:txBody>
                  <a:tcPr anchor="ctr"/>
                </a:tc>
                <a:tc>
                  <a:txBody>
                    <a:bodyPr/>
                    <a:lstStyle/>
                    <a:p>
                      <a:pPr>
                        <a:buNone/>
                      </a:pPr>
                      <a:r>
                        <a:rPr lang="en-GB"/>
                        <a:t>category</a:t>
                      </a:r>
                    </a:p>
                  </a:txBody>
                  <a:tcPr anchor="ctr"/>
                </a:tc>
                <a:tc>
                  <a:txBody>
                    <a:bodyPr/>
                    <a:lstStyle/>
                    <a:p>
                      <a:pPr>
                        <a:buNone/>
                      </a:pPr>
                      <a:r>
                        <a:rPr lang="en-GB"/>
                        <a:t>actual_price</a:t>
                      </a:r>
                    </a:p>
                  </a:txBody>
                  <a:tcPr anchor="ctr"/>
                </a:tc>
                <a:tc>
                  <a:txBody>
                    <a:bodyPr/>
                    <a:lstStyle/>
                    <a:p>
                      <a:pPr>
                        <a:buNone/>
                      </a:pPr>
                      <a:r>
                        <a:rPr lang="en-GB"/>
                        <a:t>discounted_price</a:t>
                      </a:r>
                    </a:p>
                  </a:txBody>
                  <a:tcPr anchor="ctr"/>
                </a:tc>
                <a:tc>
                  <a:txBody>
                    <a:bodyPr/>
                    <a:lstStyle/>
                    <a:p>
                      <a:pPr>
                        <a:buNone/>
                      </a:pPr>
                      <a:r>
                        <a:rPr lang="en-GB"/>
                        <a:t>discount_percentage</a:t>
                      </a:r>
                    </a:p>
                  </a:txBody>
                  <a:tcPr anchor="ctr"/>
                </a:tc>
                <a:tc>
                  <a:txBody>
                    <a:bodyPr/>
                    <a:lstStyle/>
                    <a:p>
                      <a:pPr>
                        <a:buNone/>
                      </a:pPr>
                      <a:r>
                        <a:rPr lang="en-GB"/>
                        <a:t>rating</a:t>
                      </a:r>
                    </a:p>
                  </a:txBody>
                  <a:tcPr anchor="ctr"/>
                </a:tc>
                <a:tc>
                  <a:txBody>
                    <a:bodyPr/>
                    <a:lstStyle/>
                    <a:p>
                      <a:pPr>
                        <a:buNone/>
                      </a:pPr>
                      <a:r>
                        <a:rPr lang="en-GB"/>
                        <a:t>rating_count</a:t>
                      </a:r>
                    </a:p>
                  </a:txBody>
                  <a:tcPr anchor="ctr"/>
                </a:tc>
                <a:extLst>
                  <a:ext uri="{0D108BD9-81ED-4DB2-BD59-A6C34878D82A}">
                    <a16:rowId xmlns:a16="http://schemas.microsoft.com/office/drawing/2014/main" val="3986683600"/>
                  </a:ext>
                </a:extLst>
              </a:tr>
              <a:tr h="513047">
                <a:tc>
                  <a:txBody>
                    <a:bodyPr/>
                    <a:lstStyle/>
                    <a:p>
                      <a:pPr>
                        <a:buNone/>
                      </a:pPr>
                      <a:r>
                        <a:rPr lang="en-GB"/>
                        <a:t>B00ABC1234</a:t>
                      </a:r>
                    </a:p>
                  </a:txBody>
                  <a:tcPr anchor="ctr"/>
                </a:tc>
                <a:tc>
                  <a:txBody>
                    <a:bodyPr/>
                    <a:lstStyle/>
                    <a:p>
                      <a:pPr>
                        <a:buNone/>
                      </a:pPr>
                      <a:r>
                        <a:rPr lang="en-GB"/>
                        <a:t>electronics</a:t>
                      </a:r>
                    </a:p>
                  </a:txBody>
                  <a:tcPr anchor="ctr"/>
                </a:tc>
                <a:tc>
                  <a:txBody>
                    <a:bodyPr/>
                    <a:lstStyle/>
                    <a:p>
                      <a:pPr>
                        <a:buNone/>
                      </a:pPr>
                      <a:r>
                        <a:rPr lang="en-GB"/>
                        <a:t>499</a:t>
                      </a:r>
                    </a:p>
                  </a:txBody>
                  <a:tcPr anchor="ctr"/>
                </a:tc>
                <a:tc>
                  <a:txBody>
                    <a:bodyPr/>
                    <a:lstStyle/>
                    <a:p>
                      <a:pPr>
                        <a:buNone/>
                      </a:pPr>
                      <a:r>
                        <a:rPr lang="en-GB"/>
                        <a:t>299</a:t>
                      </a:r>
                    </a:p>
                  </a:txBody>
                  <a:tcPr anchor="ctr"/>
                </a:tc>
                <a:tc>
                  <a:txBody>
                    <a:bodyPr/>
                    <a:lstStyle/>
                    <a:p>
                      <a:pPr>
                        <a:buNone/>
                      </a:pPr>
                      <a:r>
                        <a:rPr lang="en-GB"/>
                        <a:t>40%</a:t>
                      </a:r>
                    </a:p>
                  </a:txBody>
                  <a:tcPr anchor="ctr"/>
                </a:tc>
                <a:tc>
                  <a:txBody>
                    <a:bodyPr/>
                    <a:lstStyle/>
                    <a:p>
                      <a:pPr>
                        <a:buNone/>
                      </a:pPr>
                      <a:r>
                        <a:rPr lang="en-GB"/>
                        <a:t>4.2</a:t>
                      </a:r>
                    </a:p>
                  </a:txBody>
                  <a:tcPr anchor="ctr"/>
                </a:tc>
                <a:tc>
                  <a:txBody>
                    <a:bodyPr/>
                    <a:lstStyle/>
                    <a:p>
                      <a:pPr>
                        <a:buNone/>
                      </a:pPr>
                      <a:r>
                        <a:rPr lang="en-GB"/>
                        <a:t>256</a:t>
                      </a:r>
                    </a:p>
                  </a:txBody>
                  <a:tcPr anchor="ctr"/>
                </a:tc>
                <a:extLst>
                  <a:ext uri="{0D108BD9-81ED-4DB2-BD59-A6C34878D82A}">
                    <a16:rowId xmlns:a16="http://schemas.microsoft.com/office/drawing/2014/main" val="2377821005"/>
                  </a:ext>
                </a:extLst>
              </a:tr>
              <a:tr h="513047">
                <a:tc>
                  <a:txBody>
                    <a:bodyPr/>
                    <a:lstStyle/>
                    <a:p>
                      <a:pPr>
                        <a:buNone/>
                      </a:pPr>
                      <a:r>
                        <a:rPr lang="en-GB"/>
                        <a:t>B07XYZ9876</a:t>
                      </a:r>
                    </a:p>
                  </a:txBody>
                  <a:tcPr anchor="ctr"/>
                </a:tc>
                <a:tc>
                  <a:txBody>
                    <a:bodyPr/>
                    <a:lstStyle/>
                    <a:p>
                      <a:pPr>
                        <a:buNone/>
                      </a:pPr>
                      <a:r>
                        <a:rPr lang="en-GB"/>
                        <a:t>fashion</a:t>
                      </a:r>
                    </a:p>
                  </a:txBody>
                  <a:tcPr anchor="ctr"/>
                </a:tc>
                <a:tc>
                  <a:txBody>
                    <a:bodyPr/>
                    <a:lstStyle/>
                    <a:p>
                      <a:pPr>
                        <a:buNone/>
                      </a:pPr>
                      <a:r>
                        <a:rPr lang="en-GB"/>
                        <a:t>1299</a:t>
                      </a:r>
                    </a:p>
                  </a:txBody>
                  <a:tcPr anchor="ctr"/>
                </a:tc>
                <a:tc>
                  <a:txBody>
                    <a:bodyPr/>
                    <a:lstStyle/>
                    <a:p>
                      <a:pPr>
                        <a:buNone/>
                      </a:pPr>
                      <a:r>
                        <a:rPr lang="en-GB"/>
                        <a:t>699</a:t>
                      </a:r>
                    </a:p>
                  </a:txBody>
                  <a:tcPr anchor="ctr"/>
                </a:tc>
                <a:tc>
                  <a:txBody>
                    <a:bodyPr/>
                    <a:lstStyle/>
                    <a:p>
                      <a:pPr>
                        <a:buNone/>
                      </a:pPr>
                      <a:r>
                        <a:rPr lang="en-GB"/>
                        <a:t>46%</a:t>
                      </a:r>
                    </a:p>
                  </a:txBody>
                  <a:tcPr anchor="ctr"/>
                </a:tc>
                <a:tc>
                  <a:txBody>
                    <a:bodyPr/>
                    <a:lstStyle/>
                    <a:p>
                      <a:pPr>
                        <a:buNone/>
                      </a:pPr>
                      <a:r>
                        <a:rPr lang="en-GB"/>
                        <a:t>3.8</a:t>
                      </a:r>
                    </a:p>
                  </a:txBody>
                  <a:tcPr anchor="ctr"/>
                </a:tc>
                <a:tc>
                  <a:txBody>
                    <a:bodyPr/>
                    <a:lstStyle/>
                    <a:p>
                      <a:pPr>
                        <a:buNone/>
                      </a:pPr>
                      <a:r>
                        <a:rPr lang="en-GB"/>
                        <a:t>120</a:t>
                      </a:r>
                    </a:p>
                  </a:txBody>
                  <a:tcPr anchor="ctr"/>
                </a:tc>
                <a:extLst>
                  <a:ext uri="{0D108BD9-81ED-4DB2-BD59-A6C34878D82A}">
                    <a16:rowId xmlns:a16="http://schemas.microsoft.com/office/drawing/2014/main" val="974041957"/>
                  </a:ext>
                </a:extLst>
              </a:tr>
              <a:tr h="513047">
                <a:tc>
                  <a:txBody>
                    <a:bodyPr/>
                    <a:lstStyle/>
                    <a:p>
                      <a:pPr>
                        <a:buNone/>
                      </a:pPr>
                      <a:r>
                        <a:rPr lang="en-GB"/>
                        <a:t>B0GH45KL99</a:t>
                      </a:r>
                    </a:p>
                  </a:txBody>
                  <a:tcPr anchor="ctr"/>
                </a:tc>
                <a:tc>
                  <a:txBody>
                    <a:bodyPr/>
                    <a:lstStyle/>
                    <a:p>
                      <a:pPr>
                        <a:buNone/>
                      </a:pPr>
                      <a:r>
                        <a:rPr lang="en-GB"/>
                        <a:t>beauty</a:t>
                      </a:r>
                    </a:p>
                  </a:txBody>
                  <a:tcPr anchor="ctr"/>
                </a:tc>
                <a:tc>
                  <a:txBody>
                    <a:bodyPr/>
                    <a:lstStyle/>
                    <a:p>
                      <a:pPr>
                        <a:buNone/>
                      </a:pPr>
                      <a:r>
                        <a:rPr lang="en-GB"/>
                        <a:t>499</a:t>
                      </a:r>
                    </a:p>
                  </a:txBody>
                  <a:tcPr anchor="ctr"/>
                </a:tc>
                <a:tc>
                  <a:txBody>
                    <a:bodyPr/>
                    <a:lstStyle/>
                    <a:p>
                      <a:pPr>
                        <a:buNone/>
                      </a:pPr>
                      <a:r>
                        <a:rPr lang="en-GB"/>
                        <a:t>199</a:t>
                      </a:r>
                    </a:p>
                  </a:txBody>
                  <a:tcPr anchor="ctr"/>
                </a:tc>
                <a:tc>
                  <a:txBody>
                    <a:bodyPr/>
                    <a:lstStyle/>
                    <a:p>
                      <a:pPr>
                        <a:buNone/>
                      </a:pPr>
                      <a:r>
                        <a:rPr lang="en-GB"/>
                        <a:t>60%</a:t>
                      </a:r>
                    </a:p>
                  </a:txBody>
                  <a:tcPr anchor="ctr"/>
                </a:tc>
                <a:tc>
                  <a:txBody>
                    <a:bodyPr/>
                    <a:lstStyle/>
                    <a:p>
                      <a:pPr>
                        <a:buNone/>
                      </a:pPr>
                      <a:r>
                        <a:rPr lang="en-GB"/>
                        <a:t>4.4</a:t>
                      </a:r>
                    </a:p>
                  </a:txBody>
                  <a:tcPr anchor="ctr"/>
                </a:tc>
                <a:tc>
                  <a:txBody>
                    <a:bodyPr/>
                    <a:lstStyle/>
                    <a:p>
                      <a:pPr>
                        <a:buNone/>
                      </a:pPr>
                      <a:r>
                        <a:rPr lang="en-GB"/>
                        <a:t>512</a:t>
                      </a:r>
                    </a:p>
                  </a:txBody>
                  <a:tcPr anchor="ctr"/>
                </a:tc>
                <a:extLst>
                  <a:ext uri="{0D108BD9-81ED-4DB2-BD59-A6C34878D82A}">
                    <a16:rowId xmlns:a16="http://schemas.microsoft.com/office/drawing/2014/main" val="803126735"/>
                  </a:ext>
                </a:extLst>
              </a:tr>
              <a:tr h="513047">
                <a:tc>
                  <a:txBody>
                    <a:bodyPr/>
                    <a:lstStyle/>
                    <a:p>
                      <a:pPr>
                        <a:buNone/>
                      </a:pPr>
                      <a:r>
                        <a:rPr lang="en-GB"/>
                        <a:t>B09MNOP456</a:t>
                      </a:r>
                    </a:p>
                  </a:txBody>
                  <a:tcPr anchor="ctr"/>
                </a:tc>
                <a:tc>
                  <a:txBody>
                    <a:bodyPr/>
                    <a:lstStyle/>
                    <a:p>
                      <a:pPr>
                        <a:buNone/>
                      </a:pPr>
                      <a:r>
                        <a:rPr lang="en-GB"/>
                        <a:t>home</a:t>
                      </a:r>
                    </a:p>
                  </a:txBody>
                  <a:tcPr anchor="ctr"/>
                </a:tc>
                <a:tc>
                  <a:txBody>
                    <a:bodyPr/>
                    <a:lstStyle/>
                    <a:p>
                      <a:pPr>
                        <a:buNone/>
                      </a:pPr>
                      <a:r>
                        <a:rPr lang="en-GB"/>
                        <a:t>899</a:t>
                      </a:r>
                    </a:p>
                  </a:txBody>
                  <a:tcPr anchor="ctr"/>
                </a:tc>
                <a:tc>
                  <a:txBody>
                    <a:bodyPr/>
                    <a:lstStyle/>
                    <a:p>
                      <a:pPr>
                        <a:buNone/>
                      </a:pPr>
                      <a:r>
                        <a:rPr lang="en-GB"/>
                        <a:t>499</a:t>
                      </a:r>
                    </a:p>
                  </a:txBody>
                  <a:tcPr anchor="ctr"/>
                </a:tc>
                <a:tc>
                  <a:txBody>
                    <a:bodyPr/>
                    <a:lstStyle/>
                    <a:p>
                      <a:pPr>
                        <a:buNone/>
                      </a:pPr>
                      <a:r>
                        <a:rPr lang="en-GB"/>
                        <a:t>44%</a:t>
                      </a:r>
                    </a:p>
                  </a:txBody>
                  <a:tcPr anchor="ctr"/>
                </a:tc>
                <a:tc>
                  <a:txBody>
                    <a:bodyPr/>
                    <a:lstStyle/>
                    <a:p>
                      <a:pPr>
                        <a:buNone/>
                      </a:pPr>
                      <a:r>
                        <a:rPr lang="en-GB"/>
                        <a:t>4.0</a:t>
                      </a:r>
                    </a:p>
                  </a:txBody>
                  <a:tcPr anchor="ctr"/>
                </a:tc>
                <a:tc>
                  <a:txBody>
                    <a:bodyPr/>
                    <a:lstStyle/>
                    <a:p>
                      <a:pPr>
                        <a:buNone/>
                      </a:pPr>
                      <a:r>
                        <a:rPr lang="en-GB"/>
                        <a:t>78</a:t>
                      </a:r>
                    </a:p>
                  </a:txBody>
                  <a:tcPr anchor="ctr"/>
                </a:tc>
                <a:extLst>
                  <a:ext uri="{0D108BD9-81ED-4DB2-BD59-A6C34878D82A}">
                    <a16:rowId xmlns:a16="http://schemas.microsoft.com/office/drawing/2014/main" val="891870060"/>
                  </a:ext>
                </a:extLst>
              </a:tr>
              <a:tr h="513047">
                <a:tc>
                  <a:txBody>
                    <a:bodyPr/>
                    <a:lstStyle/>
                    <a:p>
                      <a:pPr>
                        <a:buNone/>
                      </a:pPr>
                      <a:r>
                        <a:rPr lang="en-GB" dirty="0"/>
                        <a:t>B08QWER741</a:t>
                      </a:r>
                    </a:p>
                  </a:txBody>
                  <a:tcPr anchor="ctr"/>
                </a:tc>
                <a:tc>
                  <a:txBody>
                    <a:bodyPr/>
                    <a:lstStyle/>
                    <a:p>
                      <a:pPr>
                        <a:buNone/>
                      </a:pPr>
                      <a:r>
                        <a:rPr lang="en-GB"/>
                        <a:t>kitchen</a:t>
                      </a:r>
                    </a:p>
                  </a:txBody>
                  <a:tcPr anchor="ctr"/>
                </a:tc>
                <a:tc>
                  <a:txBody>
                    <a:bodyPr/>
                    <a:lstStyle/>
                    <a:p>
                      <a:pPr>
                        <a:buNone/>
                      </a:pPr>
                      <a:r>
                        <a:rPr lang="en-GB" dirty="0"/>
                        <a:t>699</a:t>
                      </a:r>
                    </a:p>
                  </a:txBody>
                  <a:tcPr anchor="ctr"/>
                </a:tc>
                <a:tc>
                  <a:txBody>
                    <a:bodyPr/>
                    <a:lstStyle/>
                    <a:p>
                      <a:pPr>
                        <a:buNone/>
                      </a:pPr>
                      <a:r>
                        <a:rPr lang="en-GB"/>
                        <a:t>349</a:t>
                      </a:r>
                    </a:p>
                  </a:txBody>
                  <a:tcPr anchor="ctr"/>
                </a:tc>
                <a:tc>
                  <a:txBody>
                    <a:bodyPr/>
                    <a:lstStyle/>
                    <a:p>
                      <a:pPr>
                        <a:buNone/>
                      </a:pPr>
                      <a:r>
                        <a:rPr lang="en-GB"/>
                        <a:t>50%</a:t>
                      </a:r>
                    </a:p>
                  </a:txBody>
                  <a:tcPr anchor="ctr"/>
                </a:tc>
                <a:tc>
                  <a:txBody>
                    <a:bodyPr/>
                    <a:lstStyle/>
                    <a:p>
                      <a:pPr>
                        <a:buNone/>
                      </a:pPr>
                      <a:r>
                        <a:rPr lang="en-GB"/>
                        <a:t>4.1</a:t>
                      </a:r>
                    </a:p>
                  </a:txBody>
                  <a:tcPr anchor="ctr"/>
                </a:tc>
                <a:tc>
                  <a:txBody>
                    <a:bodyPr/>
                    <a:lstStyle/>
                    <a:p>
                      <a:pPr>
                        <a:buNone/>
                      </a:pPr>
                      <a:r>
                        <a:rPr lang="en-GB" dirty="0"/>
                        <a:t>310</a:t>
                      </a:r>
                    </a:p>
                  </a:txBody>
                  <a:tcPr anchor="ctr"/>
                </a:tc>
                <a:extLst>
                  <a:ext uri="{0D108BD9-81ED-4DB2-BD59-A6C34878D82A}">
                    <a16:rowId xmlns:a16="http://schemas.microsoft.com/office/drawing/2014/main" val="2807637822"/>
                  </a:ext>
                </a:extLst>
              </a:tr>
            </a:tbl>
          </a:graphicData>
        </a:graphic>
      </p:graphicFrame>
      <p:sp>
        <p:nvSpPr>
          <p:cNvPr id="14" name="Rectangle 3">
            <a:extLst>
              <a:ext uri="{FF2B5EF4-FFF2-40B4-BE49-F238E27FC236}">
                <a16:creationId xmlns:a16="http://schemas.microsoft.com/office/drawing/2014/main" id="{64B489E4-60CC-9B24-E526-42818DDCBAC6}"/>
              </a:ext>
            </a:extLst>
          </p:cNvPr>
          <p:cNvSpPr>
            <a:spLocks noChangeArrowheads="1"/>
          </p:cNvSpPr>
          <p:nvPr/>
        </p:nvSpPr>
        <p:spPr bwMode="auto">
          <a:xfrm>
            <a:off x="132271" y="484804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Dataset Name:</a:t>
            </a:r>
            <a:r>
              <a:rPr kumimoji="0" lang="en-US" altLang="en-US" sz="1800" b="0" i="0" u="none" strike="noStrike" cap="none" normalizeH="0" baseline="0" dirty="0">
                <a:ln>
                  <a:noFill/>
                </a:ln>
                <a:solidFill>
                  <a:schemeClr val="tx1"/>
                </a:solidFill>
                <a:effectLst/>
                <a:latin typeface="Arial" panose="020B0604020202020204" pitchFamily="34" charset="0"/>
              </a:rPr>
              <a:t> Amazon.csv</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Total Rows:</a:t>
            </a:r>
            <a:r>
              <a:rPr kumimoji="0" lang="en-US" altLang="en-US" sz="1800" b="0" i="0" u="none" strike="noStrike" cap="none" normalizeH="0" baseline="0" dirty="0">
                <a:ln>
                  <a:noFill/>
                </a:ln>
                <a:solidFill>
                  <a:schemeClr val="tx1"/>
                </a:solidFill>
                <a:effectLst/>
                <a:latin typeface="Arial" panose="020B0604020202020204" pitchFamily="34" charset="0"/>
              </a:rPr>
              <a:t> 1465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Total Columns:</a:t>
            </a:r>
            <a:r>
              <a:rPr kumimoji="0" lang="en-US" altLang="en-US" sz="1800" b="0" i="0" u="none" strike="noStrike" cap="none" normalizeH="0" baseline="0" dirty="0">
                <a:ln>
                  <a:noFill/>
                </a:ln>
                <a:solidFill>
                  <a:schemeClr val="tx1"/>
                </a:solidFill>
                <a:effectLst/>
                <a:latin typeface="Arial" panose="020B0604020202020204" pitchFamily="34" charset="0"/>
              </a:rPr>
              <a:t> 16</a:t>
            </a:r>
          </a:p>
        </p:txBody>
      </p:sp>
      <p:sp>
        <p:nvSpPr>
          <p:cNvPr id="18" name="TextBox 17">
            <a:extLst>
              <a:ext uri="{FF2B5EF4-FFF2-40B4-BE49-F238E27FC236}">
                <a16:creationId xmlns:a16="http://schemas.microsoft.com/office/drawing/2014/main" id="{0AB2B613-A7D8-DF86-CD70-E162BB51EE0F}"/>
              </a:ext>
            </a:extLst>
          </p:cNvPr>
          <p:cNvSpPr txBox="1"/>
          <p:nvPr/>
        </p:nvSpPr>
        <p:spPr>
          <a:xfrm>
            <a:off x="5319623" y="4312652"/>
            <a:ext cx="6096000" cy="1754326"/>
          </a:xfrm>
          <a:prstGeom prst="rect">
            <a:avLst/>
          </a:prstGeom>
          <a:noFill/>
        </p:spPr>
        <p:txBody>
          <a:bodyPr wrap="square">
            <a:spAutoFit/>
          </a:bodyPr>
          <a:lstStyle/>
          <a:p>
            <a:r>
              <a:rPr lang="en-US" b="1" dirty="0"/>
              <a:t>Useful Columns for Analysis:</a:t>
            </a:r>
          </a:p>
          <a:p>
            <a:r>
              <a:rPr lang="en-US" dirty="0"/>
              <a:t>category (Nominal)</a:t>
            </a:r>
          </a:p>
          <a:p>
            <a:r>
              <a:rPr lang="en-US" dirty="0"/>
              <a:t>rating(Interval)</a:t>
            </a:r>
          </a:p>
          <a:p>
            <a:r>
              <a:rPr lang="en-US" dirty="0" err="1"/>
              <a:t>discount_percentage</a:t>
            </a:r>
            <a:endParaRPr lang="en-US" dirty="0"/>
          </a:p>
          <a:p>
            <a:r>
              <a:rPr lang="en-US" dirty="0" err="1"/>
              <a:t>actual_price</a:t>
            </a:r>
            <a:endParaRPr lang="en-US" dirty="0"/>
          </a:p>
          <a:p>
            <a:r>
              <a:rPr lang="en-US" dirty="0" err="1"/>
              <a:t>rating_count</a:t>
            </a:r>
            <a:endParaRPr lang="en-GB" dirty="0"/>
          </a:p>
        </p:txBody>
      </p:sp>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dirty="0"/>
              <a:t>Dataset </a:t>
            </a:r>
            <a:r>
              <a:rPr lang="en-US" dirty="0">
                <a:solidFill>
                  <a:srgbClr val="203232"/>
                </a:solidFill>
              </a:rPr>
              <a:t>ID</a:t>
            </a:r>
            <a:r>
              <a:rPr lang="en-US" sz="1600" dirty="0">
                <a:solidFill>
                  <a:srgbClr val="FF0000"/>
                </a:solidFill>
              </a:rPr>
              <a:t>   </a:t>
            </a:r>
            <a:r>
              <a:rPr lang="en-US" sz="2400" dirty="0">
                <a:solidFill>
                  <a:schemeClr val="tx1"/>
                </a:solidFill>
              </a:rPr>
              <a:t>(ds057  File Name: Amazon.csv)</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dirty="0"/>
              <a:t>7COM1079-2025  Student Group No: A 99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602367" y="1675193"/>
            <a:ext cx="10974945" cy="2380616"/>
          </a:xfrm>
        </p:spPr>
        <p:txBody>
          <a:bodyPr>
            <a:noAutofit/>
          </a:bodyPr>
          <a:lstStyle/>
          <a:p>
            <a:pPr>
              <a:lnSpc>
                <a:spcPct val="100000"/>
              </a:lnSpc>
            </a:pPr>
            <a:r>
              <a:rPr lang="en-US" sz="2400" b="0" dirty="0">
                <a:latin typeface="Calibri"/>
                <a:cs typeface="Calibri"/>
              </a:rPr>
              <a:t>This dataset is interesting to us because (It allows us to compare customer ratings across different product categories.):</a:t>
            </a:r>
            <a:br>
              <a:rPr lang="en-US" sz="2400" b="0" dirty="0">
                <a:latin typeface="Calibri" panose="020F0502020204030204" pitchFamily="34" charset="0"/>
                <a:cs typeface="Calibri" panose="020F0502020204030204" pitchFamily="34" charset="0"/>
              </a:rPr>
            </a:br>
            <a:r>
              <a:rPr lang="en-US" sz="2400" b="0" i="1" dirty="0">
                <a:solidFill>
                  <a:schemeClr val="accent2">
                    <a:lumMod val="75000"/>
                  </a:schemeClr>
                </a:solidFill>
                <a:latin typeface="Calibri"/>
                <a:cs typeface="Calibri"/>
              </a:rPr>
              <a:t> </a:t>
            </a:r>
            <a:br>
              <a:rPr lang="en-US" sz="2400" b="0" dirty="0">
                <a:latin typeface="Calibri" panose="020F0502020204030204" pitchFamily="34" charset="0"/>
                <a:cs typeface="Calibri" panose="020F0502020204030204" pitchFamily="34" charset="0"/>
              </a:rPr>
            </a:br>
            <a:r>
              <a:rPr lang="en-US" sz="2400" b="0" dirty="0">
                <a:latin typeface="Calibri"/>
                <a:cs typeface="Calibri"/>
              </a:rPr>
              <a:t>Our  Independent variable is: (category)</a:t>
            </a:r>
            <a:br>
              <a:rPr lang="en-US" sz="2400" b="0" dirty="0">
                <a:latin typeface="Calibri" panose="020F0502020204030204" pitchFamily="34" charset="0"/>
                <a:cs typeface="Calibri" panose="020F0502020204030204" pitchFamily="34" charset="0"/>
              </a:rPr>
            </a:br>
            <a:r>
              <a:rPr lang="en-US" sz="2400" b="0" dirty="0">
                <a:solidFill>
                  <a:srgbClr val="FF0000"/>
                </a:solidFill>
                <a:latin typeface="Calibri"/>
                <a:cs typeface="Calibri"/>
              </a:rPr>
              <a:t>                   </a:t>
            </a:r>
            <a:r>
              <a:rPr lang="en-US" sz="2400" b="0" dirty="0">
                <a:latin typeface="Calibri"/>
                <a:cs typeface="Calibri"/>
              </a:rPr>
              <a:t>This  Independent variable datatype is (select one)</a:t>
            </a:r>
            <a:br>
              <a:rPr lang="en-US" sz="2400" b="0" dirty="0">
                <a:latin typeface="Calibri"/>
                <a:cs typeface="Calibri"/>
              </a:rPr>
            </a:br>
            <a:br>
              <a:rPr lang="en-US" sz="2400" b="0" dirty="0">
                <a:latin typeface="Calibri" panose="020F0502020204030204" pitchFamily="34" charset="0"/>
                <a:cs typeface="Calibri" panose="020F0502020204030204" pitchFamily="34" charset="0"/>
              </a:rPr>
            </a:br>
            <a:br>
              <a:rPr lang="en-US" sz="2400" b="0" dirty="0">
                <a:latin typeface="Calibri" panose="020F0502020204030204" pitchFamily="34" charset="0"/>
                <a:cs typeface="Calibri" panose="020F0502020204030204" pitchFamily="34" charset="0"/>
              </a:rPr>
            </a:br>
            <a:r>
              <a:rPr lang="en-US" sz="2400" b="0" dirty="0">
                <a:latin typeface="Calibri"/>
                <a:cs typeface="Calibri"/>
              </a:rPr>
              <a:t>Our Dependent variable is: (rating)</a:t>
            </a:r>
            <a:br>
              <a:rPr lang="en-US" sz="2400" b="0" dirty="0">
                <a:latin typeface="Calibri" panose="020F0502020204030204" pitchFamily="34" charset="0"/>
                <a:cs typeface="Calibri" panose="020F0502020204030204" pitchFamily="34" charset="0"/>
              </a:rPr>
            </a:br>
            <a:r>
              <a:rPr lang="en-US" sz="2400" b="0" dirty="0">
                <a:solidFill>
                  <a:srgbClr val="FF0000"/>
                </a:solidFill>
                <a:latin typeface="Calibri"/>
                <a:cs typeface="Calibri"/>
              </a:rPr>
              <a:t>                   </a:t>
            </a:r>
            <a:r>
              <a:rPr lang="en-US" sz="2400" b="0" dirty="0">
                <a:latin typeface="Calibri"/>
                <a:cs typeface="Calibri"/>
              </a:rPr>
              <a:t>This Dependent variable datatype is  (select one):</a:t>
            </a:r>
            <a:br>
              <a:rPr lang="en-US" sz="2400" b="0" dirty="0">
                <a:latin typeface="Calibri"/>
                <a:cs typeface="Calibri"/>
              </a:rPr>
            </a:br>
            <a:r>
              <a:rPr lang="en-US" sz="2400" b="0" dirty="0">
                <a:latin typeface="Calibri"/>
                <a:cs typeface="Calibri"/>
              </a:rPr>
              <a:t>                     </a:t>
            </a:r>
            <a:endParaRPr lang="en-US" sz="2400" b="0" dirty="0">
              <a:solidFill>
                <a:srgbClr val="FF0000"/>
              </a:solidFill>
              <a:latin typeface="Calibri"/>
              <a:cs typeface="Calibri"/>
            </a:endParaRPr>
          </a:p>
        </p:txBody>
      </p:sp>
      <p:sp>
        <p:nvSpPr>
          <p:cNvPr id="11" name="Rectangle 5">
            <a:extLst>
              <a:ext uri="{FF2B5EF4-FFF2-40B4-BE49-F238E27FC236}">
                <a16:creationId xmlns:a16="http://schemas.microsoft.com/office/drawing/2014/main" id="{B11EA6A3-0DE0-93E5-8E4B-FD75B57C8C15}"/>
              </a:ext>
            </a:extLst>
          </p:cNvPr>
          <p:cNvSpPr>
            <a:spLocks noChangeArrowheads="1"/>
          </p:cNvSpPr>
          <p:nvPr/>
        </p:nvSpPr>
        <p:spPr bwMode="auto">
          <a:xfrm>
            <a:off x="1345053" y="2578480"/>
            <a:ext cx="1357880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Datatype:</a:t>
            </a:r>
            <a:r>
              <a:rPr kumimoji="0" lang="en-US" altLang="en-US" sz="1800" b="0" i="0" u="none" strike="noStrike" cap="none" normalizeH="0" baseline="0" dirty="0">
                <a:ln>
                  <a:noFill/>
                </a:ln>
                <a:solidFill>
                  <a:schemeClr val="tx1"/>
                </a:solidFill>
                <a:effectLst/>
                <a:latin typeface="Arial" panose="020B0604020202020204" pitchFamily="34" charset="0"/>
              </a:rPr>
              <a:t> Nominal / Categorical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Reason:</a:t>
            </a:r>
            <a:r>
              <a:rPr kumimoji="0" lang="en-US" altLang="en-US" sz="1800" b="0" i="0" u="none" strike="noStrike" cap="none" normalizeH="0" baseline="0" dirty="0">
                <a:ln>
                  <a:noFill/>
                </a:ln>
                <a:solidFill>
                  <a:schemeClr val="tx1"/>
                </a:solidFill>
                <a:effectLst/>
                <a:latin typeface="Arial" panose="020B0604020202020204" pitchFamily="34" charset="0"/>
              </a:rPr>
              <a:t> Groups products into types such as electronics, fashion, beauty, etc.</a:t>
            </a:r>
          </a:p>
        </p:txBody>
      </p:sp>
      <p:sp>
        <p:nvSpPr>
          <p:cNvPr id="15" name="TextBox 14">
            <a:extLst>
              <a:ext uri="{FF2B5EF4-FFF2-40B4-BE49-F238E27FC236}">
                <a16:creationId xmlns:a16="http://schemas.microsoft.com/office/drawing/2014/main" id="{08277CC9-7903-2B29-F362-9333CF248188}"/>
              </a:ext>
            </a:extLst>
          </p:cNvPr>
          <p:cNvSpPr txBox="1"/>
          <p:nvPr/>
        </p:nvSpPr>
        <p:spPr>
          <a:xfrm>
            <a:off x="1345053" y="4859641"/>
            <a:ext cx="7462684" cy="646331"/>
          </a:xfrm>
          <a:prstGeom prst="rect">
            <a:avLst/>
          </a:prstGeom>
          <a:noFill/>
        </p:spPr>
        <p:txBody>
          <a:bodyPr wrap="square">
            <a:spAutoFit/>
          </a:bodyPr>
          <a:lstStyle/>
          <a:p>
            <a:pPr marL="285750" indent="-285750">
              <a:buFont typeface="Arial" panose="020B0604020202020204" pitchFamily="34" charset="0"/>
              <a:buChar char="•"/>
            </a:pPr>
            <a:r>
              <a:rPr lang="en-US" b="1" dirty="0"/>
              <a:t>Datatype:</a:t>
            </a:r>
            <a:r>
              <a:rPr lang="en-US" dirty="0"/>
              <a:t> Interval (numeric rating 1–5)</a:t>
            </a:r>
          </a:p>
          <a:p>
            <a:pPr marL="285750" indent="-285750">
              <a:buFont typeface="Arial" panose="020B0604020202020204" pitchFamily="34" charset="0"/>
              <a:buChar char="•"/>
            </a:pPr>
            <a:r>
              <a:rPr lang="en-US" b="1" dirty="0"/>
              <a:t>Reason:</a:t>
            </a:r>
            <a:r>
              <a:rPr lang="en-US" dirty="0"/>
              <a:t> This is the measure that answers our research question.</a:t>
            </a:r>
            <a:endParaRPr lang="en-GB" dirty="0"/>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sz="2000" dirty="0"/>
              <a:t>Our Research Question </a:t>
            </a:r>
            <a:r>
              <a:rPr lang="en-US" sz="2000" dirty="0"/>
              <a:t>Is there a difference in the mean rating between product categories on Amazon? Using template : Comparison of means (or medians): </a:t>
            </a:r>
            <a:endParaRPr lang="en-GB" sz="20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A 99</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11" name="Rectangle 3">
            <a:extLst>
              <a:ext uri="{FF2B5EF4-FFF2-40B4-BE49-F238E27FC236}">
                <a16:creationId xmlns:a16="http://schemas.microsoft.com/office/drawing/2014/main" id="{FF1076C0-F67F-5D18-3E61-67051A79608B}"/>
              </a:ext>
            </a:extLst>
          </p:cNvPr>
          <p:cNvSpPr>
            <a:spLocks noChangeArrowheads="1"/>
          </p:cNvSpPr>
          <p:nvPr/>
        </p:nvSpPr>
        <p:spPr bwMode="auto">
          <a:xfrm>
            <a:off x="965289" y="2505670"/>
            <a:ext cx="1049101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We selected this question because it is perfect for comparing mean values between groups because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our dataset includes both a nominal variable (category) and a numeric variable (rating). This enables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us to investigate significant variations in consumer satisfaction among Amazon product categories.</a:t>
            </a:r>
          </a:p>
        </p:txBody>
      </p:sp>
    </p:spTree>
    <p:extLst>
      <p:ext uri="{BB962C8B-B14F-4D97-AF65-F5344CB8AC3E}">
        <p14:creationId xmlns:p14="http://schemas.microsoft.com/office/powerpoint/2010/main" val="3249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521219" y="284375"/>
            <a:ext cx="10406581" cy="1391600"/>
          </a:xfrm>
        </p:spPr>
        <p:txBody>
          <a:bodyPr vert="horz" lIns="0" tIns="0" rIns="0" bIns="0" rtlCol="0" anchor="t">
            <a:noAutofit/>
          </a:bodyPr>
          <a:lstStyle/>
          <a:p>
            <a:pPr>
              <a:lnSpc>
                <a:spcPct val="100000"/>
              </a:lnSpc>
            </a:pPr>
            <a:r>
              <a:rPr lang="en-GB" sz="2400" dirty="0">
                <a:latin typeface="Calibri"/>
                <a:cs typeface="Calibri"/>
              </a:rPr>
              <a:t>Hypotheses</a:t>
            </a:r>
            <a:endParaRPr lang="en-GB" sz="2400" b="0" dirty="0">
              <a:latin typeface="Calibri"/>
              <a:cs typeface="Calibri"/>
            </a:endParaRPr>
          </a:p>
          <a:p>
            <a:pPr marL="457200" indent="-457200">
              <a:lnSpc>
                <a:spcPct val="100000"/>
              </a:lnSpc>
              <a:buAutoNum type="arabicPeriod"/>
            </a:pPr>
            <a:r>
              <a:rPr lang="en-US" sz="2000" b="0" dirty="0">
                <a:solidFill>
                  <a:schemeClr val="tx1"/>
                </a:solidFill>
                <a:latin typeface="Arial"/>
                <a:cs typeface="Arial"/>
              </a:rPr>
              <a:t>Null Hypothesis (H₀):There is no difference in the mean rating between product categories.</a:t>
            </a:r>
          </a:p>
          <a:p>
            <a:pPr>
              <a:lnSpc>
                <a:spcPct val="100000"/>
              </a:lnSpc>
            </a:pPr>
            <a:r>
              <a:rPr lang="en-US" sz="2000" dirty="0">
                <a:solidFill>
                  <a:schemeClr val="tx1"/>
                </a:solidFill>
                <a:latin typeface="Arial"/>
                <a:cs typeface="Arial"/>
              </a:rPr>
              <a:t>This means:</a:t>
            </a:r>
          </a:p>
          <a:p>
            <a:pPr marL="342900" indent="-342900">
              <a:lnSpc>
                <a:spcPct val="100000"/>
              </a:lnSpc>
              <a:buFont typeface="Arial" panose="020B0604020202020204" pitchFamily="34" charset="0"/>
              <a:buChar char="•"/>
            </a:pPr>
            <a:r>
              <a:rPr lang="en-US" sz="2000" b="0" dirty="0">
                <a:solidFill>
                  <a:schemeClr val="tx1"/>
                </a:solidFill>
                <a:latin typeface="Arial"/>
                <a:cs typeface="Arial"/>
              </a:rPr>
              <a:t>Product category does not influence the rating customers give.</a:t>
            </a:r>
          </a:p>
          <a:p>
            <a:pPr marL="342900" indent="-342900">
              <a:lnSpc>
                <a:spcPct val="100000"/>
              </a:lnSpc>
              <a:buFont typeface="Arial" panose="020B0604020202020204" pitchFamily="34" charset="0"/>
              <a:buChar char="•"/>
            </a:pPr>
            <a:r>
              <a:rPr lang="en-US" sz="2000" b="0" dirty="0">
                <a:solidFill>
                  <a:schemeClr val="tx1"/>
                </a:solidFill>
                <a:latin typeface="Arial"/>
                <a:cs typeface="Arial"/>
              </a:rPr>
              <a:t>Any variation in rating between categories in the sample is due to random chance, not a real effect in the population.</a:t>
            </a:r>
          </a:p>
          <a:p>
            <a:pPr>
              <a:lnSpc>
                <a:spcPct val="100000"/>
              </a:lnSpc>
            </a:pPr>
            <a:r>
              <a:rPr lang="en-GB" sz="2000" b="0" dirty="0">
                <a:latin typeface="Arial"/>
                <a:cs typeface="Arial"/>
              </a:rPr>
              <a:t>2. </a:t>
            </a:r>
            <a:r>
              <a:rPr lang="en-US" sz="2000" b="0" dirty="0">
                <a:latin typeface="Arial"/>
                <a:cs typeface="Arial"/>
              </a:rPr>
              <a:t>Alternative Hypothesis (H₁):There is a difference in the mean rating between product categories.</a:t>
            </a:r>
          </a:p>
          <a:p>
            <a:pPr>
              <a:lnSpc>
                <a:spcPct val="100000"/>
              </a:lnSpc>
            </a:pPr>
            <a:r>
              <a:rPr lang="en-US" sz="2000" dirty="0">
                <a:latin typeface="Arial"/>
                <a:cs typeface="Arial"/>
              </a:rPr>
              <a:t>This means:</a:t>
            </a:r>
          </a:p>
          <a:p>
            <a:pPr marL="342900" indent="-342900">
              <a:lnSpc>
                <a:spcPct val="100000"/>
              </a:lnSpc>
              <a:buFont typeface="Arial" panose="020B0604020202020204" pitchFamily="34" charset="0"/>
              <a:buChar char="•"/>
            </a:pPr>
            <a:r>
              <a:rPr lang="en-US" sz="2000" b="0" dirty="0">
                <a:latin typeface="Arial"/>
                <a:cs typeface="Arial"/>
              </a:rPr>
              <a:t>Product category does influence the rating customers give.</a:t>
            </a:r>
          </a:p>
          <a:p>
            <a:pPr marL="342900" indent="-342900">
              <a:lnSpc>
                <a:spcPct val="100000"/>
              </a:lnSpc>
              <a:buFont typeface="Arial" panose="020B0604020202020204" pitchFamily="34" charset="0"/>
              <a:buChar char="•"/>
            </a:pPr>
            <a:r>
              <a:rPr lang="en-US" sz="2000" b="0" dirty="0">
                <a:latin typeface="Arial"/>
                <a:cs typeface="Arial"/>
              </a:rPr>
              <a:t>The difference in ratings between categories is meaningful and present in the population.</a:t>
            </a:r>
            <a:endParaRPr lang="en-GB" sz="2000" b="0" dirty="0">
              <a:solidFill>
                <a:srgbClr val="FF0000"/>
              </a:solidFill>
              <a:latin typeface="Arial"/>
              <a:cs typeface="Arial"/>
            </a:endParaRP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Tree>
    <p:extLst>
      <p:ext uri="{BB962C8B-B14F-4D97-AF65-F5344CB8AC3E}">
        <p14:creationId xmlns:p14="http://schemas.microsoft.com/office/powerpoint/2010/main" val="2952338475"/>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3.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682</Words>
  <Application>Microsoft Office PowerPoint</Application>
  <PresentationFormat>Widescreen</PresentationFormat>
  <Paragraphs>94</Paragraphs>
  <Slides>5</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Herts Theme</vt:lpstr>
      <vt:lpstr>Research Question – Is there a difference in the mean rating between product categories on Amazon? Tutorial Presentation for Feedback Date:  26/11/2025 </vt:lpstr>
      <vt:lpstr>PowerPoint Presentation</vt:lpstr>
      <vt:lpstr>This dataset is interesting to us because (It allows us to compare customer ratings across different product categories.):   Our  Independent variable is: (category)                    This  Independent variable datatype is (select one)   Our Dependent variable is: (rating)                    This Dependent variable datatype is  (select one):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Dhwani Chavda</cp:lastModifiedBy>
  <cp:revision>117</cp:revision>
  <dcterms:created xsi:type="dcterms:W3CDTF">2019-10-01T08:37:56Z</dcterms:created>
  <dcterms:modified xsi:type="dcterms:W3CDTF">2025-11-26T12:17:22Z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